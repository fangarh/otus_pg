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embeddedFontLst>
    <p:embeddedFont>
      <p:font typeface="Roboto" panose="020B0604020202020204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533">
          <p15:clr>
            <a:srgbClr val="A4A3A4"/>
          </p15:clr>
        </p15:guide>
        <p15:guide id="2" pos="227">
          <p15:clr>
            <a:srgbClr val="9AA0A6"/>
          </p15:clr>
        </p15:guide>
        <p15:guide id="3" orient="horz" pos="179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4DBC21D-8548-498D-ADA0-F75BD0586A27}">
  <a:tblStyle styleId="{B4DBC21D-8548-498D-ADA0-F75BD0586A2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730" y="77"/>
      </p:cViewPr>
      <p:guideLst>
        <p:guide pos="5533"/>
        <p:guide pos="227"/>
        <p:guide orient="horz" pos="17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de823becd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de823becd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de823becd0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de823becd0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df29b9fb24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df29b9fb24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df29b9fb24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df29b9fb24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f97f5ce68a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f97f5ce68a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f97f5ce68a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f97f5ce68a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f97f5ce68a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f97f5ce68a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e04b8b6756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e04b8b6756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99" r="99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CUSTOM_5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31" name="Google Shape;31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1">
  <p:cSld name="CUSTOM_2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2">
  <p:cSld name="CUSTOM_2_1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">
  <p:cSld name="CUSTOM_4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ubTitle" idx="1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14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2">
  <p:cSld name="CUSTOM_4_1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5"/>
          <p:cNvSpPr/>
          <p:nvPr/>
        </p:nvSpPr>
        <p:spPr>
          <a:xfrm>
            <a:off x="362300" y="1384249"/>
            <a:ext cx="4748700" cy="33933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subTitle" idx="1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ubTitle" idx="2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5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pgconfigurator.cybertec.at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otus.ru</a:t>
            </a:r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ru-RU" sz="4400" dirty="0" err="1"/>
              <a:t>PostgreSQL</a:t>
            </a:r>
            <a:r>
              <a:rPr lang="ru-RU" sz="4400" dirty="0"/>
              <a:t> для администраторов баз данных и разработчиков</a:t>
            </a:r>
            <a:endParaRPr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>
            <a:spLocks noGrp="1"/>
          </p:cNvSpPr>
          <p:nvPr>
            <p:ph type="title"/>
          </p:nvPr>
        </p:nvSpPr>
        <p:spPr>
          <a:xfrm>
            <a:off x="766725" y="1805199"/>
            <a:ext cx="7935300" cy="129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000"/>
              <a:t>Меня хорошо видно</a:t>
            </a:r>
            <a:endParaRPr sz="4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/>
              <a:t>&amp; слышно?</a:t>
            </a:r>
            <a:endParaRPr sz="4000"/>
          </a:p>
        </p:txBody>
      </p:sp>
      <p:pic>
        <p:nvPicPr>
          <p:cNvPr id="76" name="Google Shape;76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7275" y="3516281"/>
            <a:ext cx="526796" cy="52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84856" y="3516281"/>
            <a:ext cx="526796" cy="52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/>
          <p:nvPr/>
        </p:nvSpPr>
        <p:spPr>
          <a:xfrm>
            <a:off x="630000" y="2716325"/>
            <a:ext cx="1033800" cy="1983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000" dirty="0"/>
              <a:t>Защита проекта</a:t>
            </a:r>
            <a:endParaRPr sz="3000" dirty="0"/>
          </a:p>
          <a:p>
            <a:pPr lvl="0">
              <a:buSzPts val="1100"/>
            </a:pPr>
            <a:r>
              <a:rPr lang="ru" sz="3000" dirty="0"/>
              <a:t>Тема: </a:t>
            </a:r>
            <a:r>
              <a:rPr lang="ru-RU" sz="2800" b="0" dirty="0"/>
              <a:t>БД для системы согласования и передачи проектно-сметной документации</a:t>
            </a:r>
            <a:r>
              <a:rPr lang="ru-RU" b="0" dirty="0"/>
              <a:t>.</a:t>
            </a:r>
            <a:endParaRPr sz="3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5" name="Google Shape;85;p18"/>
          <p:cNvSpPr txBox="1"/>
          <p:nvPr/>
        </p:nvSpPr>
        <p:spPr>
          <a:xfrm>
            <a:off x="3123850" y="2716325"/>
            <a:ext cx="5856300" cy="7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>
                <a:latin typeface="Roboto"/>
                <a:ea typeface="Roboto"/>
                <a:cs typeface="Roboto"/>
                <a:sym typeface="Roboto"/>
              </a:rPr>
              <a:t>Дворников Дмитрий Сергеевич</a:t>
            </a:r>
            <a:endParaRPr b="1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" name="Google Shape;86;p18"/>
          <p:cNvSpPr txBox="1"/>
          <p:nvPr/>
        </p:nvSpPr>
        <p:spPr>
          <a:xfrm>
            <a:off x="3123850" y="3279300"/>
            <a:ext cx="5856300" cy="13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Руководитель </a:t>
            </a:r>
            <a:r>
              <a:rPr lang="ru-RU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направления разработки</a:t>
            </a:r>
            <a:endParaRPr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ЦТ 1520</a:t>
            </a:r>
            <a:endParaRPr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000"/>
              <a:t>План защиты</a:t>
            </a:r>
            <a:endParaRPr sz="3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19"/>
          <p:cNvSpPr/>
          <p:nvPr/>
        </p:nvSpPr>
        <p:spPr>
          <a:xfrm>
            <a:off x="786525" y="1205525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Цели проекта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" name="Google Shape;93;p19"/>
          <p:cNvSpPr/>
          <p:nvPr/>
        </p:nvSpPr>
        <p:spPr>
          <a:xfrm>
            <a:off x="787125" y="1795027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Что планировалось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" name="Google Shape;94;p19"/>
          <p:cNvSpPr/>
          <p:nvPr/>
        </p:nvSpPr>
        <p:spPr>
          <a:xfrm>
            <a:off x="787125" y="2372042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Используемые</a:t>
            </a:r>
            <a:r>
              <a:rPr lang="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технологии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" name="Google Shape;95;p19"/>
          <p:cNvSpPr/>
          <p:nvPr/>
        </p:nvSpPr>
        <p:spPr>
          <a:xfrm>
            <a:off x="786525" y="2949064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Что</a:t>
            </a:r>
            <a:r>
              <a:rPr lang="ru" sz="1300" dirty="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 получилось</a:t>
            </a:r>
            <a:endParaRPr sz="1300" dirty="0">
              <a:solidFill>
                <a:srgbClr val="0505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" name="Google Shape;96;p19"/>
          <p:cNvSpPr/>
          <p:nvPr/>
        </p:nvSpPr>
        <p:spPr>
          <a:xfrm>
            <a:off x="786525" y="3526100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Схемы/</a:t>
            </a: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архитектура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" name="Google Shape;97;p19"/>
          <p:cNvSpPr/>
          <p:nvPr/>
        </p:nvSpPr>
        <p:spPr>
          <a:xfrm>
            <a:off x="786525" y="4103113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Выводы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8" name="Google Shape;98;p19"/>
          <p:cNvCxnSpPr>
            <a:stCxn id="92" idx="1"/>
            <a:endCxn id="93" idx="1"/>
          </p:cNvCxnSpPr>
          <p:nvPr/>
        </p:nvCxnSpPr>
        <p:spPr>
          <a:xfrm>
            <a:off x="786525" y="1393625"/>
            <a:ext cx="600" cy="589500"/>
          </a:xfrm>
          <a:prstGeom prst="curvedConnector3">
            <a:avLst>
              <a:gd name="adj1" fmla="val -396875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99" name="Google Shape;99;p19"/>
          <p:cNvCxnSpPr>
            <a:stCxn id="93" idx="1"/>
            <a:endCxn id="94" idx="1"/>
          </p:cNvCxnSpPr>
          <p:nvPr/>
        </p:nvCxnSpPr>
        <p:spPr>
          <a:xfrm>
            <a:off x="787125" y="1983127"/>
            <a:ext cx="600" cy="576900"/>
          </a:xfrm>
          <a:prstGeom prst="curvedConnector3">
            <a:avLst>
              <a:gd name="adj1" fmla="val -396875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00" name="Google Shape;100;p19"/>
          <p:cNvCxnSpPr>
            <a:stCxn id="94" idx="1"/>
            <a:endCxn id="95" idx="1"/>
          </p:cNvCxnSpPr>
          <p:nvPr/>
        </p:nvCxnSpPr>
        <p:spPr>
          <a:xfrm flipH="1">
            <a:off x="786525" y="2560142"/>
            <a:ext cx="600" cy="576900"/>
          </a:xfrm>
          <a:prstGeom prst="curvedConnector3">
            <a:avLst>
              <a:gd name="adj1" fmla="val 397875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01" name="Google Shape;101;p19"/>
          <p:cNvCxnSpPr>
            <a:stCxn id="95" idx="1"/>
            <a:endCxn id="96" idx="1"/>
          </p:cNvCxnSpPr>
          <p:nvPr/>
        </p:nvCxnSpPr>
        <p:spPr>
          <a:xfrm>
            <a:off x="786525" y="3137164"/>
            <a:ext cx="600" cy="576900"/>
          </a:xfrm>
          <a:prstGeom prst="curvedConnector3">
            <a:avLst>
              <a:gd name="adj1" fmla="val -396875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02" name="Google Shape;102;p19"/>
          <p:cNvCxnSpPr>
            <a:stCxn id="96" idx="1"/>
            <a:endCxn id="97" idx="1"/>
          </p:cNvCxnSpPr>
          <p:nvPr/>
        </p:nvCxnSpPr>
        <p:spPr>
          <a:xfrm>
            <a:off x="786525" y="3714200"/>
            <a:ext cx="600" cy="576900"/>
          </a:xfrm>
          <a:prstGeom prst="curvedConnector3">
            <a:avLst>
              <a:gd name="adj1" fmla="val -396875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Цели проекта</a:t>
            </a:r>
            <a:endParaRPr/>
          </a:p>
        </p:txBody>
      </p:sp>
      <p:graphicFrame>
        <p:nvGraphicFramePr>
          <p:cNvPr id="108" name="Google Shape;108;p20"/>
          <p:cNvGraphicFramePr/>
          <p:nvPr>
            <p:extLst>
              <p:ext uri="{D42A27DB-BD31-4B8C-83A1-F6EECF244321}">
                <p14:modId xmlns:p14="http://schemas.microsoft.com/office/powerpoint/2010/main" val="1927496181"/>
              </p:ext>
            </p:extLst>
          </p:nvPr>
        </p:nvGraphicFramePr>
        <p:xfrm>
          <a:off x="952500" y="1544194"/>
          <a:ext cx="7239000" cy="1047912"/>
        </p:xfrm>
        <a:graphic>
          <a:graphicData uri="http://schemas.openxmlformats.org/drawingml/2006/table">
            <a:tbl>
              <a:tblPr>
                <a:noFill/>
                <a:tableStyleId>{B4DBC21D-8548-498D-ADA0-F75BD0586A27}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Реализовать макет БД с минимальным функционалом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 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Избежать проблем систем  введенных в эксплуатацию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Проанализировать тонкие места и избежать </a:t>
                      </a:r>
                      <a:r>
                        <a:rPr lang="ru-RU" sz="130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сталкновения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с ними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000"/>
              <a:t>Что планировалось</a:t>
            </a:r>
            <a:endParaRPr sz="3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115" name="Google Shape;115;p21"/>
          <p:cNvGraphicFramePr/>
          <p:nvPr>
            <p:extLst>
              <p:ext uri="{D42A27DB-BD31-4B8C-83A1-F6EECF244321}">
                <p14:modId xmlns:p14="http://schemas.microsoft.com/office/powerpoint/2010/main" val="3337830998"/>
              </p:ext>
            </p:extLst>
          </p:nvPr>
        </p:nvGraphicFramePr>
        <p:xfrm>
          <a:off x="952500" y="1544194"/>
          <a:ext cx="7239000" cy="1746520"/>
        </p:xfrm>
        <a:graphic>
          <a:graphicData uri="http://schemas.openxmlformats.org/drawingml/2006/table">
            <a:tbl>
              <a:tblPr>
                <a:noFill/>
                <a:tableStyleId>{B4DBC21D-8548-498D-ADA0-F75BD0586A27}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Развернуть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PG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Произвести настройку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PG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Спроектировать таблицы и зависимости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 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Разработать необходимые хранимые функции и процедуры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0556907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5. 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Учесть ошибки, избежать новых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2188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Используемые технологии</a:t>
            </a:r>
            <a:endParaRPr sz="3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122" name="Google Shape;122;p22"/>
          <p:cNvGraphicFramePr/>
          <p:nvPr>
            <p:extLst>
              <p:ext uri="{D42A27DB-BD31-4B8C-83A1-F6EECF244321}">
                <p14:modId xmlns:p14="http://schemas.microsoft.com/office/powerpoint/2010/main" val="126164533"/>
              </p:ext>
            </p:extLst>
          </p:nvPr>
        </p:nvGraphicFramePr>
        <p:xfrm>
          <a:off x="952500" y="1544194"/>
          <a:ext cx="7239000" cy="1063406"/>
        </p:xfrm>
        <a:graphic>
          <a:graphicData uri="http://schemas.openxmlformats.org/drawingml/2006/table">
            <a:tbl>
              <a:tblPr>
                <a:noFill/>
                <a:tableStyleId>{B4DBC21D-8548-498D-ADA0-F75BD0586A27}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Postgres 16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  <a:hlinkClick r:id="rId3" tooltip="https://pgconfigurator.cybertec.at/"/>
                        </a:rPr>
                        <a:t>https://pgconfigurator.cybertec.at/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r>
                        <a:rPr lang="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Net Core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Что получилось</a:t>
            </a:r>
            <a:endParaRPr sz="3000"/>
          </a:p>
        </p:txBody>
      </p:sp>
      <p:pic>
        <p:nvPicPr>
          <p:cNvPr id="129" name="Google Shape;129;p23"/>
          <p:cNvPicPr preferRelativeResize="0"/>
          <p:nvPr/>
        </p:nvPicPr>
        <p:blipFill rotWithShape="1">
          <a:blip r:embed="rId3">
            <a:alphaModFix/>
          </a:blip>
          <a:srcRect t="18803" r="34309" b="1623"/>
          <a:stretch/>
        </p:blipFill>
        <p:spPr>
          <a:xfrm>
            <a:off x="5181950" y="1264350"/>
            <a:ext cx="3602048" cy="2908098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3"/>
          <p:cNvSpPr txBox="1"/>
          <p:nvPr/>
        </p:nvSpPr>
        <p:spPr>
          <a:xfrm>
            <a:off x="560839" y="1264350"/>
            <a:ext cx="3921600" cy="3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AutoNum type="arabicPeriod"/>
            </a:pPr>
            <a:r>
              <a:rPr lang="ru-RU" dirty="0">
                <a:latin typeface="Roboto"/>
                <a:ea typeface="Roboto"/>
                <a:cs typeface="Roboto"/>
                <a:sym typeface="Roboto"/>
              </a:rPr>
              <a:t>Был реализован каркас БД с ключевыми таблицами, удовлетворяющая требованиям по производительности.</a:t>
            </a:r>
          </a:p>
          <a:p>
            <a:pPr marL="457200" lvl="0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AutoNum type="arabicPeriod"/>
            </a:pPr>
            <a:r>
              <a:rPr lang="ru-RU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Реал</a:t>
            </a:r>
            <a:r>
              <a:rPr lang="ru-RU" dirty="0">
                <a:latin typeface="Roboto"/>
                <a:ea typeface="Roboto"/>
                <a:cs typeface="Roboto"/>
                <a:sym typeface="Roboto"/>
              </a:rPr>
              <a:t>изован </a:t>
            </a:r>
            <a:r>
              <a:rPr lang="ru-RU" dirty="0" err="1">
                <a:latin typeface="Roboto"/>
                <a:ea typeface="Roboto"/>
                <a:cs typeface="Roboto"/>
                <a:sym typeface="Roboto"/>
              </a:rPr>
              <a:t>генереатор</a:t>
            </a:r>
            <a:r>
              <a:rPr lang="ru-RU" dirty="0">
                <a:latin typeface="Roboto"/>
                <a:ea typeface="Roboto"/>
                <a:cs typeface="Roboto"/>
                <a:sym typeface="Roboto"/>
              </a:rPr>
              <a:t> заполнения и доработан софт работы с БД (ранее поддерживался только </a:t>
            </a: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MS SQL</a:t>
            </a:r>
            <a:r>
              <a:rPr lang="ru-RU" dirty="0">
                <a:latin typeface="Roboto"/>
                <a:ea typeface="Roboto"/>
                <a:cs typeface="Roboto"/>
                <a:sym typeface="Roboto"/>
              </a:rPr>
              <a:t>)</a:t>
            </a:r>
          </a:p>
          <a:p>
            <a:pPr marL="457200" lvl="0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AutoNum type="arabicPeriod"/>
            </a:pPr>
            <a:r>
              <a:rPr lang="ru-RU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Проведена аналитика подтверждающая решение проблемы с производительностью.</a:t>
            </a:r>
          </a:p>
          <a:p>
            <a:pPr marL="457200" lvl="0" indent="-317500">
              <a:lnSpc>
                <a:spcPct val="90000"/>
              </a:lnSpc>
              <a:buSzPts val="1400"/>
              <a:buFont typeface="Roboto"/>
              <a:buAutoNum type="arabicPeriod"/>
            </a:pPr>
            <a:r>
              <a:rPr lang="ru-RU" dirty="0">
                <a:latin typeface="Roboto"/>
                <a:ea typeface="Roboto"/>
                <a:cs typeface="Roboto"/>
                <a:sym typeface="Roboto"/>
              </a:rPr>
              <a:t>Репозиторий с отчетом:  </a:t>
            </a: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https://github.com/fangarh/OTUS_PG/tree/itog</a:t>
            </a:r>
            <a:endParaRPr lang="ru-RU" dirty="0"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AutoNum type="arabicPeriod"/>
            </a:pPr>
            <a:endParaRPr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dirty="0"/>
              <a:t>Схемы (архитектура, БД)</a:t>
            </a:r>
            <a:endParaRPr sz="3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EFE8100-694E-44BB-8AD6-F282626873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550" y="843387"/>
            <a:ext cx="8251564" cy="366921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Выводы и планы по развитию</a:t>
            </a:r>
            <a:endParaRPr sz="3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142" name="Google Shape;142;p25"/>
          <p:cNvGraphicFramePr/>
          <p:nvPr>
            <p:extLst>
              <p:ext uri="{D42A27DB-BD31-4B8C-83A1-F6EECF244321}">
                <p14:modId xmlns:p14="http://schemas.microsoft.com/office/powerpoint/2010/main" val="4154429012"/>
              </p:ext>
            </p:extLst>
          </p:nvPr>
        </p:nvGraphicFramePr>
        <p:xfrm>
          <a:off x="952500" y="1544194"/>
          <a:ext cx="7239000" cy="1397216"/>
        </p:xfrm>
        <a:graphic>
          <a:graphicData uri="http://schemas.openxmlformats.org/drawingml/2006/table">
            <a:tbl>
              <a:tblPr>
                <a:noFill/>
                <a:tableStyleId>{B4DBC21D-8548-498D-ADA0-F75BD0586A27}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Решены основные задачи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 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Обнаружены проблемы связанные с ограничениями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PG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Расширение набора таблиц с учетом полученного опыта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Внедрение стека </a:t>
                      </a:r>
                      <a:r>
                        <a:rPr lang="en-US" sz="130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Patroni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3" name="Google Shape;143;p25"/>
          <p:cNvSpPr/>
          <p:nvPr/>
        </p:nvSpPr>
        <p:spPr>
          <a:xfrm>
            <a:off x="4934400" y="3763050"/>
            <a:ext cx="3257100" cy="644700"/>
          </a:xfrm>
          <a:prstGeom prst="wedgeRectCallout">
            <a:avLst>
              <a:gd name="adj1" fmla="val -32765"/>
              <a:gd name="adj2" fmla="val -96401"/>
            </a:avLst>
          </a:prstGeom>
          <a:solidFill>
            <a:srgbClr val="F3F3F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98000" tIns="126000" rIns="198000" bIns="126000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Запланируйте пару минут на рефлексию в конце защиты проекта и расскажите о планах по развитию</a:t>
            </a:r>
            <a:endParaRPr sz="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6"/>
          <p:cNvSpPr txBox="1">
            <a:spLocks noGrp="1"/>
          </p:cNvSpPr>
          <p:nvPr>
            <p:ph type="title"/>
          </p:nvPr>
        </p:nvSpPr>
        <p:spPr>
          <a:xfrm>
            <a:off x="956225" y="396394"/>
            <a:ext cx="7559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900"/>
              <a:t>Спасибо за внимание!</a:t>
            </a:r>
            <a:br>
              <a:rPr lang="ru" sz="5000" b="0"/>
            </a:br>
            <a:endParaRPr sz="1400" b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250</Words>
  <Application>Microsoft Office PowerPoint</Application>
  <PresentationFormat>Экран (16:9)</PresentationFormat>
  <Paragraphs>60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Roboto</vt:lpstr>
      <vt:lpstr>Arial</vt:lpstr>
      <vt:lpstr>Courier New</vt:lpstr>
      <vt:lpstr>Светлая тема</vt:lpstr>
      <vt:lpstr>PostgreSQL для администраторов баз данных и разработчиков</vt:lpstr>
      <vt:lpstr>Меня хорошо видно &amp; слышно?</vt:lpstr>
      <vt:lpstr>Защита проекта Тема: БД для системы согласования и передачи проектно-сметной документации.  </vt:lpstr>
      <vt:lpstr>План защиты </vt:lpstr>
      <vt:lpstr>Цели проекта</vt:lpstr>
      <vt:lpstr>Что планировалось </vt:lpstr>
      <vt:lpstr>Используемые технологии  </vt:lpstr>
      <vt:lpstr>Что получилось</vt:lpstr>
      <vt:lpstr>Схемы (архитектура, БД)   </vt:lpstr>
      <vt:lpstr>Выводы и планы по развитию   </vt:lpstr>
      <vt:lpstr>Спасибо за внимание!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Название курса </dc:title>
  <dc:creator>Dmitry Dvornikov</dc:creator>
  <cp:lastModifiedBy>Dmitry Dvornikov</cp:lastModifiedBy>
  <cp:revision>4</cp:revision>
  <dcterms:modified xsi:type="dcterms:W3CDTF">2024-02-19T17:20:15Z</dcterms:modified>
</cp:coreProperties>
</file>